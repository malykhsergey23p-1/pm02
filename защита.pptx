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6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9336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7173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4167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6315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354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1266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421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356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8600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147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51699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25871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69195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66088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2819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395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B9981-22B5-4BD6-8AAE-C12014115DBD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4272B7D-7E31-4A7C-8053-B53173E7BD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04487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055A9-4C65-EDE6-00EB-11655E2DA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atinLnBrk="1"/>
            <a:r>
              <a:rPr lang="ru-RU" sz="2000" dirty="0"/>
              <a:t>ИНФОРМАЦИОННАЯ СИСТЕМА «А</a:t>
            </a:r>
            <a:r>
              <a:rPr lang="en-US" sz="2000" dirty="0" err="1"/>
              <a:t>groControl</a:t>
            </a:r>
            <a:r>
              <a:rPr lang="ru-RU" sz="2000" dirty="0"/>
              <a:t>»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5BB59D3-DCEC-8B54-7C7E-ADD7C508FC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latinLnBrk="1"/>
            <a:r>
              <a:rPr lang="ru-RU" dirty="0">
                <a:solidFill>
                  <a:schemeClr val="tx1"/>
                </a:solidFill>
              </a:rPr>
              <a:t>Выполнил: студент группы </a:t>
            </a:r>
            <a:r>
              <a:rPr lang="en-US" dirty="0">
                <a:solidFill>
                  <a:schemeClr val="tx1"/>
                </a:solidFill>
              </a:rPr>
              <a:t>23</a:t>
            </a:r>
            <a:r>
              <a:rPr lang="ru-RU" dirty="0">
                <a:solidFill>
                  <a:schemeClr val="tx1"/>
                </a:solidFill>
              </a:rPr>
              <a:t>П-1 Малых Сергей Павлович                               </a:t>
            </a:r>
          </a:p>
          <a:p>
            <a:pPr latinLnBrk="1"/>
            <a:r>
              <a:rPr lang="ru-RU" dirty="0">
                <a:solidFill>
                  <a:schemeClr val="tx1"/>
                </a:solidFill>
              </a:rPr>
              <a:t>    </a:t>
            </a:r>
            <a:r>
              <a:rPr lang="en-US" dirty="0">
                <a:solidFill>
                  <a:schemeClr val="tx1"/>
                </a:solidFill>
              </a:rPr>
              <a:t>                   </a:t>
            </a:r>
            <a:r>
              <a:rPr lang="ru-RU" dirty="0">
                <a:solidFill>
                  <a:schemeClr val="tx1"/>
                </a:solidFill>
              </a:rPr>
              <a:t> Руководитель: Седов Алексей Сергеевич                                        </a:t>
            </a:r>
          </a:p>
          <a:p>
            <a:pPr latinLnBrk="1"/>
            <a:r>
              <a:rPr lang="ru-RU" dirty="0">
                <a:solidFill>
                  <a:schemeClr val="tx1"/>
                </a:solidFill>
              </a:rPr>
              <a:t>Дата защиты: 19</a:t>
            </a:r>
            <a:r>
              <a:rPr lang="en-US" dirty="0">
                <a:solidFill>
                  <a:schemeClr val="tx1"/>
                </a:solidFill>
              </a:rPr>
              <a:t>.05.2026</a:t>
            </a:r>
            <a:endParaRPr lang="ru-RU" dirty="0">
              <a:solidFill>
                <a:schemeClr val="tx1"/>
              </a:solidFill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8784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2CED89-ABB2-FE3B-DAC1-77A9CCAFE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АКТУАЛЬНОСТЬ</a:t>
            </a:r>
            <a:r>
              <a:rPr lang="en-US" b="1" dirty="0"/>
              <a:t> </a:t>
            </a:r>
            <a:r>
              <a:rPr lang="ru-RU" b="1" dirty="0"/>
              <a:t>РАЗРАБОТКИ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5DDCF64-5F31-2538-CD30-FD0277F91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 </a:t>
            </a:r>
            <a:r>
              <a:rPr lang="ru-RU" dirty="0">
                <a:solidFill>
                  <a:schemeClr val="tx1"/>
                </a:solidFill>
              </a:rPr>
              <a:t>Разрозненность данных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Ошибки человеческого фактора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Задержки в принятии решений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Трудность отслеживания истории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Низкая скорость обработки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831975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43A27F-2A6D-FA92-E2F7-F829041D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Цель работы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3D5EBA-CEB6-B7E3-E5DD-3F2BE0561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ru-RU" dirty="0"/>
              <a:t>Разработка информационной системы «</a:t>
            </a:r>
            <a:r>
              <a:rPr lang="en-US" dirty="0" err="1"/>
              <a:t>AgroControl</a:t>
            </a:r>
            <a:r>
              <a:rPr lang="ru-RU" dirty="0"/>
              <a:t>» для автоматизации деятельности технологического отдела и лаборатории предприятия по производству средств защиты растений</a:t>
            </a:r>
          </a:p>
        </p:txBody>
      </p:sp>
    </p:spTree>
    <p:extLst>
      <p:ext uri="{BB962C8B-B14F-4D97-AF65-F5344CB8AC3E}">
        <p14:creationId xmlns:p14="http://schemas.microsoft.com/office/powerpoint/2010/main" val="658993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52B1B39-8C2F-BF36-FDD3-1EB0EF268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АРХИТЕКТУРА СИСТЕМЫ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B0109D-0283-50DB-0653-A0D5D5E9B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Модуль технолога</a:t>
            </a:r>
          </a:p>
          <a:p>
            <a:r>
              <a:rPr lang="ru-RU" dirty="0"/>
              <a:t>Модуль лаборатории</a:t>
            </a:r>
          </a:p>
          <a:p>
            <a:r>
              <a:rPr lang="ru-RU" dirty="0"/>
              <a:t>Модуль аппаратчика</a:t>
            </a:r>
          </a:p>
          <a:p>
            <a:r>
              <a:rPr lang="en-US" dirty="0"/>
              <a:t>REST API</a:t>
            </a:r>
          </a:p>
          <a:p>
            <a:r>
              <a:rPr lang="ru-RU" dirty="0"/>
              <a:t>База данных «</a:t>
            </a:r>
            <a:r>
              <a:rPr lang="en-US" dirty="0" err="1"/>
              <a:t>AgroControl</a:t>
            </a:r>
            <a:r>
              <a:rPr lang="ru-RU" dirty="0"/>
              <a:t>»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BD12A8-177B-C842-70E1-4AB738793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647" y="332345"/>
            <a:ext cx="2353985" cy="6193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479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0B13D3-21FC-F87B-0AB4-7E7CB9BBC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Модуль технолога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50BADE-841A-BF48-044C-9C112CD3E8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chemeClr val="tx1"/>
                </a:solidFill>
              </a:rPr>
              <a:t> Функции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r>
              <a:rPr lang="ru-RU" dirty="0">
                <a:solidFill>
                  <a:schemeClr val="tx1"/>
                </a:solidFill>
              </a:rPr>
              <a:t>Ведение продукции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Управление рецептурами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Производственные заказы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Управление партиями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Аналитика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6BAF50A-5F3B-31A3-9E37-EE9656127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9592" y="2160589"/>
            <a:ext cx="7280883" cy="3880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510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4D8A27-FFAB-CDA9-2FF0-7E7294689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МОДУЛЬ ЛАБОРАТОРИИ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8E942D9-6E92-7223-EE57-5CFCC9F8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chemeClr val="tx1"/>
                </a:solidFill>
              </a:rPr>
              <a:t>Функции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r>
              <a:rPr lang="ru-RU" dirty="0">
                <a:solidFill>
                  <a:schemeClr val="tx1"/>
                </a:solidFill>
              </a:rPr>
              <a:t>Контроль сырья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Контроль продукции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Ввод результатов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 Автопроверка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Блокировка партий</a:t>
            </a:r>
            <a:endParaRPr lang="en-US" dirty="0">
              <a:solidFill>
                <a:schemeClr val="tx1"/>
              </a:solidFill>
            </a:endParaRPr>
          </a:p>
          <a:p>
            <a:r>
              <a:rPr lang="ru-RU" dirty="0">
                <a:solidFill>
                  <a:schemeClr val="tx1"/>
                </a:solidFill>
              </a:rPr>
              <a:t>Экспорт протоколов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D5E1764-3025-02FD-3AC6-4884F791A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780" y="1930400"/>
            <a:ext cx="7374588" cy="400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974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FCDE80-5AC8-6FD8-705C-748A20915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МОДУЛЬ АППАРАТЧИКА</a:t>
            </a:r>
            <a:br>
              <a:rPr lang="ru-RU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5B3448-F12A-B630-0009-34FAE81EA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166" y="2197165"/>
            <a:ext cx="8596668" cy="3880773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solidFill>
                  <a:schemeClr val="tx1"/>
                </a:solidFill>
              </a:rPr>
              <a:t>Функции</a:t>
            </a:r>
            <a:r>
              <a:rPr lang="en-US" dirty="0">
                <a:solidFill>
                  <a:schemeClr val="tx1"/>
                </a:solidFill>
              </a:rPr>
              <a:t>:</a:t>
            </a:r>
            <a:endParaRPr lang="ru-RU" dirty="0">
              <a:solidFill>
                <a:schemeClr val="tx1"/>
              </a:solidFill>
            </a:endParaRPr>
          </a:p>
          <a:p>
            <a:r>
              <a:rPr lang="ru-RU" dirty="0"/>
              <a:t>Список активных партий</a:t>
            </a:r>
          </a:p>
          <a:p>
            <a:r>
              <a:rPr lang="ru-RU" dirty="0"/>
              <a:t> Пошаговое выполнение</a:t>
            </a:r>
          </a:p>
          <a:p>
            <a:r>
              <a:rPr lang="ru-RU" dirty="0"/>
              <a:t>Ввод фактических данных</a:t>
            </a:r>
          </a:p>
          <a:p>
            <a:r>
              <a:rPr lang="ru-RU" dirty="0"/>
              <a:t>Фиксация отклонений 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723CAF-7180-BBD2-886D-DB08EA362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5656" y="1755721"/>
            <a:ext cx="5668518" cy="4260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44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7FA06F-E2D5-86BB-3E40-1497A7A11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Разработка </a:t>
            </a:r>
            <a:r>
              <a:rPr lang="en-US" b="1" dirty="0"/>
              <a:t>REST API</a:t>
            </a:r>
            <a:br>
              <a:rPr lang="en-US" b="1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971C6A-AD12-75DC-EE29-24804D7D4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REST API информационной системы «</a:t>
            </a:r>
            <a:r>
              <a:rPr lang="ru-RU" dirty="0" err="1"/>
              <a:t>АгроКонтроль</a:t>
            </a:r>
            <a:r>
              <a:rPr lang="ru-RU" dirty="0"/>
              <a:t>» представляет собой единый слой доступа к данным и бизнес-логике, обеспечивающий взаимодействие всех клиентских приложений (модулей технолога, лаборатории и аппаратчика) с базой данных.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24BE762-F894-3BD0-A396-7FE612B88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7301" y="3429000"/>
            <a:ext cx="5557016" cy="311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51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D286FD-52B5-C905-18DE-DC22E2BB3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Тестирования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4D6DF44-6D13-B456-D2A9-DE3F60E601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9894" y="3082131"/>
            <a:ext cx="65722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454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94505A-4B22-0AA1-C2A4-702A969D9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0D6F1C-065B-9DF0-CFB2-956BA9B33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В результате проведенного анализа предметной области были выявлены ключевые бизнес-процессы, требующие автоматизации: ведение карточек продукции, создание и сопровождение рецептур, формирование производственных заказов и партий, контроль качества сырья и готовой продукции, регистрация лабораторных испытаний, а также мониторинг выполнения производственных партий аппаратчиками. На основе анализа была спроектирована реляционная база данных «</a:t>
            </a:r>
            <a:r>
              <a:rPr lang="ru-RU" dirty="0" err="1">
                <a:solidFill>
                  <a:schemeClr val="tx1"/>
                </a:solidFill>
              </a:rPr>
              <a:t>AgroControl</a:t>
            </a:r>
            <a:r>
              <a:rPr lang="ru-RU" dirty="0">
                <a:solidFill>
                  <a:schemeClr val="tx1"/>
                </a:solidFill>
              </a:rPr>
              <a:t>», содержащая 20 таблиц, 7 представлений и 12 хранимых процедур. База данных развернута на сервере KAB17-02\SQLEXPRESS и обеспечивает целостное хранение всей информации о продукции, рецептурах, производственных процессах и результатах контроля качества.</a:t>
            </a:r>
          </a:p>
        </p:txBody>
      </p:sp>
    </p:spTree>
    <p:extLst>
      <p:ext uri="{BB962C8B-B14F-4D97-AF65-F5344CB8AC3E}">
        <p14:creationId xmlns:p14="http://schemas.microsoft.com/office/powerpoint/2010/main" val="2321925729"/>
      </p:ext>
    </p:extLst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Аспект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137</TotalTime>
  <Words>268</Words>
  <Application>Microsoft Office PowerPoint</Application>
  <PresentationFormat>Широкоэкранный</PresentationFormat>
  <Paragraphs>44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Trebuchet MS</vt:lpstr>
      <vt:lpstr>Wingdings 3</vt:lpstr>
      <vt:lpstr>Аспект</vt:lpstr>
      <vt:lpstr>ИНФОРМАЦИОННАЯ СИСТЕМА «АgroControl» </vt:lpstr>
      <vt:lpstr>АКТУАЛЬНОСТЬ РАЗРАБОТКИ </vt:lpstr>
      <vt:lpstr>Цель работы </vt:lpstr>
      <vt:lpstr>АРХИТЕКТУРА СИСТЕМЫ </vt:lpstr>
      <vt:lpstr>Модуль технолога </vt:lpstr>
      <vt:lpstr>МОДУЛЬ ЛАБОРАТОРИИ </vt:lpstr>
      <vt:lpstr>МОДУЛЬ АППАРАТЧИКА </vt:lpstr>
      <vt:lpstr>Разработка REST API </vt:lpstr>
      <vt:lpstr>Тестирования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Kab19-03</dc:creator>
  <cp:lastModifiedBy>Kab19-03</cp:lastModifiedBy>
  <cp:revision>2</cp:revision>
  <dcterms:created xsi:type="dcterms:W3CDTF">2026-05-19T07:09:03Z</dcterms:created>
  <dcterms:modified xsi:type="dcterms:W3CDTF">2026-05-19T09:31:57Z</dcterms:modified>
</cp:coreProperties>
</file>